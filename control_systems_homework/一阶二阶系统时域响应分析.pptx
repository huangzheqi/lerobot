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31720"/>
            <a:ext cx="12191695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24528"/>
            <a:ext cx="12191695" cy="54864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468880"/>
            <a:ext cx="1033272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44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一阶 &amp; 二阶系统的时域响应分析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2200" b="0" i="0">
                <a:solidFill>
                  <a:srgbClr val="D9C7E6"/>
                </a:solidFill>
                <a:latin typeface="微软雅黑"/>
                <a:ea typeface="微软雅黑"/>
                <a:cs typeface="微软雅黑"/>
              </a:rPr>
              <a:t>控制系统时域响应 · 课程作业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32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C9B6D9"/>
                </a:solidFill>
                <a:latin typeface="微软雅黑"/>
                <a:ea typeface="微软雅黑"/>
                <a:cs typeface="微软雅黑"/>
              </a:rPr>
              <a:t>参考视频，修改参数，设计自己的一阶 / 二阶系统并观察响应曲线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85216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B7A3C9"/>
                </a:solidFill>
                <a:latin typeface="微软雅黑"/>
                <a:ea typeface="微软雅黑"/>
                <a:cs typeface="微软雅黑"/>
              </a:rPr>
              <a:t>姓名：__________      学号：__________      日期：2026-06-24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2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作业要求与设计概览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8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作业要求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参考视频，修改参数，设计你自己的一阶系统和二阶系统，观察响应曲线，用 PPT 呈现系统和响应。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5146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参数修改对照表（在参考视频基础上修改）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57200" y="2971800"/>
          <a:ext cx="1127455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480560"/>
                <a:gridCol w="4965192"/>
              </a:tblGrid>
              <a:tr h="548640"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系统类型</a:t>
                      </a:r>
                    </a:p>
                  </a:txBody>
                  <a:tcPr anchor="ctr" marL="109728" marR="73152">
                    <a:solidFill>
                      <a:srgbClr val="6A36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参考视频原始参数</a:t>
                      </a:r>
                    </a:p>
                  </a:txBody>
                  <a:tcPr anchor="ctr" marL="109728" marR="73152">
                    <a:solidFill>
                      <a:srgbClr val="6A3682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4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我的设计参数（修改后）</a:t>
                      </a:r>
                    </a:p>
                  </a:txBody>
                  <a:tcPr anchor="ctr" marL="109728" marR="73152">
                    <a:solidFill>
                      <a:srgbClr val="6A3682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一阶系统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G(s) = 5 / (s + 5)</a:t>
                      </a:r>
                    </a:p>
                    <a:p>
                      <a:r>
                        <a:rPr sz="1150" b="0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（极点 s = -5，时间常数 τ = 0.2 s）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G(s) = 4 / (s + 2)</a:t>
                      </a:r>
                    </a:p>
                    <a:p>
                      <a:r>
                        <a:rPr sz="1150" b="0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K = 2，τ = 0.5 s，极点 s = -2</a:t>
                      </a:r>
                    </a:p>
                  </a:txBody>
                  <a:tcPr anchor="ctr" marL="109728" marR="73152"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r>
                        <a:rPr sz="1300" b="1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二阶系统</a:t>
                      </a:r>
                    </a:p>
                  </a:txBody>
                  <a:tcPr anchor="ctr" marL="109728" marR="73152">
                    <a:solidFill>
                      <a:srgbClr val="F2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G(s) = ωn² /(s²+2ζωn s+ωn²)</a:t>
                      </a:r>
                    </a:p>
                    <a:p>
                      <a:r>
                        <a:rPr sz="1150" b="0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ζ = 0.5，ωn = 10 rad/s</a:t>
                      </a:r>
                    </a:p>
                  </a:txBody>
                  <a:tcPr anchor="ctr" marL="109728" marR="73152">
                    <a:solidFill>
                      <a:srgbClr val="F2EE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300" b="0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G(s) = 25 /(s² + 3s + 25)</a:t>
                      </a:r>
                    </a:p>
                    <a:p>
                      <a:r>
                        <a:rPr sz="1150" b="0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ζ = 0.3（欠阻尼），ωn = 5 rad/s</a:t>
                      </a:r>
                    </a:p>
                  </a:txBody>
                  <a:tcPr anchor="ctr" marL="109728" marR="73152">
                    <a:solidFill>
                      <a:srgbClr val="F2EEF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440680"/>
            <a:ext cx="112471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设计思路：一阶系统增大时间常数 τ 并提高直流增益 K，使响应更慢、稳态值更高；二阶系统减小阻尼比 ζ，使系统呈现更明显的超调与振荡，便于观察 ζ 对响应的影响。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2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一、一阶系统理论基础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6766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标准传递函数形式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200" b="1" i="0">
                <a:solidFill>
                  <a:srgbClr val="C0392B"/>
                </a:solidFill>
                <a:latin typeface="Consolas"/>
                <a:ea typeface="Consolas"/>
                <a:cs typeface="Consolas"/>
              </a:rPr>
              <a:t>G(s) = K / (τs + 1)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K：直流增益，决定单位阶跃响应的稳态值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τ：时间常数，决定响应的快慢；极点位于 s = -1/τ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由 G(s) 可写出微分方程： τ·dy/dt + y = K·u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状态空间： dx/dt = -(1/τ)x + (K/τ)u， y = x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8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一阶系统的特点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无超调、无振荡，单调趋于稳态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t = τ 时响应达到稳态值的 63.2%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调节时间 ts ≈ 4τ（2% 准则）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τ 越小，极点越靠左，响应越快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463040"/>
            <a:ext cx="4206240" cy="2194560"/>
          </a:xfrm>
          <a:prstGeom prst="rect">
            <a:avLst/>
          </a:prstGeom>
          <a:solidFill>
            <a:srgbClr val="F2EEF7"/>
          </a:solidFill>
          <a:ln w="9525">
            <a:solidFill>
              <a:srgbClr val="D8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79" y="1572768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系统框图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8778240" y="2331720"/>
            <a:ext cx="164592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8E44A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0" y="2331720"/>
            <a:ext cx="16459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2E2E2E"/>
                </a:solidFill>
                <a:latin typeface="Consolas"/>
                <a:ea typeface="Consolas"/>
                <a:cs typeface="Consolas"/>
              </a:rPr>
              <a:t>K/(τs+1)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43800" y="2468880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U(s)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469880" y="2468880"/>
            <a:ext cx="1188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→ Y(s)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3886200"/>
            <a:ext cx="42062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物理直观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类比 RC 电路充电 / 水箱进水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输入突变后，输出按指数规律平滑跟随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时间常数 τ 即“惯性”大小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2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二、我设计的一阶系统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669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C0392B"/>
                </a:solidFill>
                <a:latin typeface="Consolas"/>
                <a:ea typeface="Consolas"/>
                <a:cs typeface="Consolas"/>
              </a:rPr>
              <a:t>G(s) = 4 / (s + 2) = 2 / (0.5s + 1)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6692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直流增益 K = 2  → 阶跃稳态值为 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时间常数 τ = 0.5 s（原视频为 0.2 s，响应更慢）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极点 s = -2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调节时间 ts ≈ 4τ = 2 s，上升时间 ≈ 2.2τ ≈ 1.1 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5669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状态空间模型（用于初始状态响应）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5669280" cy="1188720"/>
          </a:xfrm>
          <a:prstGeom prst="rect">
            <a:avLst/>
          </a:prstGeom>
          <a:solidFill>
            <a:srgbClr val="F2EEF7"/>
          </a:solidFill>
          <a:ln w="9525">
            <a:solidFill>
              <a:srgbClr val="D8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bIns="73152"/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dx/dt = -2·x + 4·u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   y  = 1·x + 0·u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A=-2, B=4, C=1, D=0,  x0=5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0" y="1325880"/>
            <a:ext cx="5349240" cy="4480560"/>
          </a:xfrm>
          <a:prstGeom prst="rect">
            <a:avLst/>
          </a:prstGeom>
          <a:solidFill>
            <a:srgbClr val="F2EEF7"/>
          </a:solidFill>
          <a:ln w="9525">
            <a:solidFill>
              <a:srgbClr val="D8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bIns="73152"/>
          <a:lstStyle/>
          <a:p>
            <a:pPr algn="ctr"/>
            <a:r>
              <a:rPr sz="12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Octave / MATLAB 代码（first_order.m）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% 定义一阶系统 G(s)=4/(s+2)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K = 2; tau = 0.5;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G_a = tf([K/tau], [1, 1/tau]);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% 单位冲激响应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subplot(3,1,1); impulse(G_a);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% 单位阶跃响应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subplot(3,1,2); step(G_a);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% 初始状态响应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subplot(3,1,3);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A=-2; B=4; C=1; D=0;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sys = ss(A,B,C,D);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initial(sys, 5);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5897880"/>
            <a:ext cx="5349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（曲线由等价的 Python / scipy.signal 仿真生成）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2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三、一阶系统的三种时域响应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pic>
        <p:nvPicPr>
          <p:cNvPr id="6" name="Picture 5" descr="fo_three_respon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71" y="1143000"/>
            <a:ext cx="4825218" cy="544068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675120" y="1371600"/>
            <a:ext cx="51206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曲线解读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① 冲激响应：t=0 跃至 4，随后按 4·e^(-2t) 指数衰减到 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② 阶跃响应：单调上升，无超调，稳态值 = K = 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③ 初始状态响应：零输入下从 x0=5 按 5·e^(-2t) 衰减到 0</a:t>
            </a:r>
          </a:p>
          <a:p>
            <a:pPr algn="l">
              <a:spcBef>
                <a:spcPts val="1200"/>
              </a:spcBef>
              <a:spcAft>
                <a:spcPts val="800"/>
              </a:spcAft>
            </a:pPr>
            <a:r>
              <a:rPr sz="18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共同规律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三种响应都由同一个极点 s=-2 主导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衰减 / 上升的快慢完全由时间常数 τ=0.5 s 决定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一阶系统始终平滑、无振荡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2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四、一阶系统阶跃响应的性能指标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pic>
        <p:nvPicPr>
          <p:cNvPr id="6" name="Picture 5" descr="fo_step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67147"/>
            <a:ext cx="7040880" cy="4346665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635240" y="1463040"/>
            <a:ext cx="420624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关键指标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稳态值 = K = 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时间常数 τ = 0.5 s（63.2% 点）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调节时间 ts ≈ 4τ = 2 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上升时间 tr ≈ 2.2τ ≈ 1.1 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超调量 Mp = 0（无超调）</a:t>
            </a:r>
          </a:p>
          <a:p>
            <a:pPr algn="l">
              <a:spcBef>
                <a:spcPts val="1200"/>
              </a:spcBef>
              <a:spcAft>
                <a:spcPts val="800"/>
              </a:spcAft>
            </a:pPr>
            <a:r>
              <a:rPr sz="18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结论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一阶系统的动态品质完全由 τ 刻画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稳态精度由 K 决定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2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五、时间常数 τ 对一阶响应的影响（拓展）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pic>
        <p:nvPicPr>
          <p:cNvPr id="6" name="Picture 5" descr="fo_tau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67147"/>
            <a:ext cx="7040880" cy="4346665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635240" y="1554480"/>
            <a:ext cx="420624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对比说明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固定直流增益 K = 2，仅改变 τ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τ = 0.25 s → 极点 -4，响应最快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τ = 0.5 s → 极点 -2（本设计）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τ = 1.0 s → 极点 -1，响应最慢</a:t>
            </a:r>
          </a:p>
          <a:p>
            <a:pPr algn="l">
              <a:spcBef>
                <a:spcPts val="1200"/>
              </a:spcBef>
              <a:spcAft>
                <a:spcPts val="800"/>
              </a:spcAft>
            </a:pPr>
            <a:r>
              <a:rPr sz="18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规律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τ 越小，极点越靠近虚轴左侧，响应越快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三条曲线最终都收敛到相同稳态值 2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改变 τ 只影响快慢，不影响稳态值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2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六、二阶系统理论基础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6766560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标准传递函数形式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C0392B"/>
                </a:solidFill>
                <a:latin typeface="Consolas"/>
                <a:ea typeface="Consolas"/>
                <a:cs typeface="Consolas"/>
              </a:rPr>
              <a:t>G(s) = ωn² / (s² + 2ζωn·s + ωn²)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ωn：自然频率，决定响应快慢与振荡频率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ζ：阻尼比，决定超调量与振荡程度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极点： s = -ζωn ± jωn·√(1-ζ²)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阻尼振荡频率 ωd = ωn·√(1-ζ²)</a:t>
            </a:r>
          </a:p>
          <a:p>
            <a:pPr algn="l">
              <a:spcBef>
                <a:spcPts val="1000"/>
              </a:spcBef>
              <a:spcAft>
                <a:spcPts val="600"/>
              </a:spcAft>
            </a:pPr>
            <a:r>
              <a:rPr sz="18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按阻尼比 ζ 分类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ζ = 0：无阻尼，等幅振荡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0 &lt; ζ &lt; 1：欠阻尼，衰减振荡（有超调）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ζ = 1：临界阻尼，最快且无超调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ζ &gt; 1：过阻尼，无振荡但响应慢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79" y="1463040"/>
            <a:ext cx="4206240" cy="2377440"/>
          </a:xfrm>
          <a:prstGeom prst="rect">
            <a:avLst/>
          </a:prstGeom>
          <a:solidFill>
            <a:srgbClr val="F2EEF7"/>
          </a:solidFill>
          <a:ln w="9525">
            <a:solidFill>
              <a:srgbClr val="D8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35240" y="1600200"/>
            <a:ext cx="39319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状态空间（可控标准型）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E2E2E"/>
                </a:solidFill>
                <a:latin typeface="Consolas"/>
                <a:ea typeface="Consolas"/>
                <a:cs typeface="Consolas"/>
              </a:rPr>
              <a:t>A = [ 0      1 ]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E2E2E"/>
                </a:solidFill>
                <a:latin typeface="Consolas"/>
                <a:ea typeface="Consolas"/>
                <a:cs typeface="Consolas"/>
              </a:rPr>
              <a:t>    [-ωn²  -2ζωn]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E2E2E"/>
                </a:solidFill>
                <a:latin typeface="Consolas"/>
                <a:ea typeface="Consolas"/>
                <a:cs typeface="Consolas"/>
              </a:rPr>
              <a:t>B = [0 ; ωn²]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 i="0">
                <a:solidFill>
                  <a:srgbClr val="2E2E2E"/>
                </a:solidFill>
                <a:latin typeface="Consolas"/>
                <a:ea typeface="Consolas"/>
                <a:cs typeface="Consolas"/>
              </a:rPr>
              <a:t>C = [1   0],  D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4023360"/>
            <a:ext cx="4206240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物理直观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类比质量-弹簧-阻尼系统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ωn 来自弹簧刚度 / 质量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ζ 来自阻尼器，抑制振荡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2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七、我设计的二阶系统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34440"/>
            <a:ext cx="57607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 i="0">
                <a:solidFill>
                  <a:srgbClr val="C0392B"/>
                </a:solidFill>
                <a:latin typeface="Consolas"/>
                <a:ea typeface="Consolas"/>
                <a:cs typeface="Consolas"/>
              </a:rPr>
              <a:t>G(s) = 25 / (s² + 3s + 25)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76072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自然频率 ωn = 5 rad/s（原视频为 10）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阻尼比 ζ = 0.3（原视频 0.5，更欠阻尼）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极点 s = -1.5 ± j4.77（共轭复极点）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属欠阻尼系统 → 有明显超调与衰减振荡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977639"/>
            <a:ext cx="57607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状态空间模型（用于初始状态响应）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4434840"/>
            <a:ext cx="5760720" cy="1371600"/>
          </a:xfrm>
          <a:prstGeom prst="rect">
            <a:avLst/>
          </a:prstGeom>
          <a:solidFill>
            <a:srgbClr val="F2EEF7"/>
          </a:solidFill>
          <a:ln w="9525">
            <a:solidFill>
              <a:srgbClr val="D8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bIns="73152"/>
          <a:lstStyle/>
          <a:p>
            <a:pPr algn="ctr"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A = [0 1; -25 -3]   % 可控标准型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B = [0; 25]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C = [1 0],  D = 0,  z0 = [1; 0]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1325880"/>
            <a:ext cx="5257800" cy="4572000"/>
          </a:xfrm>
          <a:prstGeom prst="rect">
            <a:avLst/>
          </a:prstGeom>
          <a:solidFill>
            <a:srgbClr val="F2EEF7"/>
          </a:solidFill>
          <a:ln w="9525">
            <a:solidFill>
              <a:srgbClr val="D8CC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tIns="73152" bIns="73152"/>
          <a:lstStyle/>
          <a:p>
            <a:pPr algn="ctr"/>
            <a:r>
              <a:rPr sz="12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Octave / MATLAB 代码（second_order.m）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% 定义二阶系统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zeta = 0.3;  w_n = 5;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G_s = tf([w_n^2], ...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        [1, 2*w_n*zeta, w_n^2]);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subplot(3,1,1); impulse(G_s);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subplot(3,1,2); step(G_s);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% 初始状态响应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A = [0 1; -w_n^2 -2*zeta*w_n];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B = [0; w_n^2];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C = [1 0]; D = 0;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sys = ss(A,B,C,D);</a:t>
            </a:r>
          </a:p>
          <a:p>
            <a:pPr>
              <a:lnSpc>
                <a:spcPct val="105000"/>
              </a:lnSpc>
            </a:pPr>
            <a:r>
              <a:rPr sz="1250" b="0" i="0">
                <a:solidFill>
                  <a:srgbClr val="222222"/>
                </a:solidFill>
                <a:latin typeface="Consolas"/>
                <a:ea typeface="Consolas"/>
                <a:cs typeface="Consolas"/>
              </a:rPr>
              <a:t>initial(sys, [1;0]);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2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八、二阶系统的三种时域响应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9</a:t>
            </a:r>
          </a:p>
        </p:txBody>
      </p:sp>
      <p:pic>
        <p:nvPicPr>
          <p:cNvPr id="6" name="Picture 5" descr="so_three_respon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671" y="1143000"/>
            <a:ext cx="4825218" cy="5440680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6675120" y="1371600"/>
            <a:ext cx="5120640" cy="5029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曲线解读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① 冲激响应：先冲高再衰减振荡，逐渐回到 0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② 阶跃响应：上升后越过稳态值产生超调，振荡衰减到 1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③ 初始状态响应：从 z0=[1,0] 出发，衰减振荡回到 0</a:t>
            </a:r>
          </a:p>
          <a:p>
            <a:pPr algn="l">
              <a:spcBef>
                <a:spcPts val="1200"/>
              </a:spcBef>
              <a:spcAft>
                <a:spcPts val="800"/>
              </a:spcAft>
            </a:pPr>
            <a:r>
              <a:rPr sz="18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共同规律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因 ζ=0.3 &lt; 1，三种响应都呈衰减振荡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振荡频率即阻尼振荡频率 ωd ≈ 4.77 rad/s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包络衰减速度由 ζωn = 1.5 决定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2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九、二阶系统阶跃响应的性能指标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pic>
        <p:nvPicPr>
          <p:cNvPr id="6" name="Picture 5" descr="so_step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723597"/>
            <a:ext cx="6858000" cy="4233765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498079" y="1325880"/>
            <a:ext cx="4297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性能指标（ζ=0.3, ωn=5）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498079" y="1783080"/>
          <a:ext cx="4297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920240"/>
              </a:tblGrid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指标</a:t>
                      </a:r>
                    </a:p>
                  </a:txBody>
                  <a:tcPr anchor="ctr" marL="91440">
                    <a:solidFill>
                      <a:srgbClr val="6A368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数值</a:t>
                      </a:r>
                    </a:p>
                  </a:txBody>
                  <a:tcPr anchor="ctr" marL="91440">
                    <a:solidFill>
                      <a:srgbClr val="6A368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超调量 Mp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37.2 %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峰值时间 tp</a:t>
                      </a:r>
                    </a:p>
                  </a:txBody>
                  <a:tcPr anchor="ctr" marL="91440">
                    <a:solidFill>
                      <a:srgbClr val="F2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0.66 s</a:t>
                      </a:r>
                    </a:p>
                  </a:txBody>
                  <a:tcPr anchor="ctr" marL="91440">
                    <a:solidFill>
                      <a:srgbClr val="F2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调节时间 ts (2%)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≈ 2.67 s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阻尼振荡频率 ωd</a:t>
                      </a:r>
                    </a:p>
                  </a:txBody>
                  <a:tcPr anchor="ctr" marL="91440">
                    <a:solidFill>
                      <a:srgbClr val="F2EE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4.77 rad/s</a:t>
                      </a:r>
                    </a:p>
                  </a:txBody>
                  <a:tcPr anchor="ctr" marL="91440">
                    <a:solidFill>
                      <a:srgbClr val="F2EEF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300" b="1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稳态值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>
                          <a:solidFill>
                            <a:srgbClr val="2E2E2E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1.0（无稳态误差）</a:t>
                      </a:r>
                    </a:p>
                  </a:txBody>
                  <a:tcPr anchor="ctr" marL="9144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498079" y="5029200"/>
            <a:ext cx="429768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理论公式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E2E2E"/>
                </a:solidFill>
                <a:latin typeface="Consolas"/>
                <a:ea typeface="Consolas"/>
                <a:cs typeface="Consolas"/>
              </a:rPr>
              <a:t>Mp = e^(-ζπ/√(1-ζ²))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2E2E2E"/>
                </a:solidFill>
                <a:latin typeface="Consolas"/>
                <a:ea typeface="Consolas"/>
                <a:cs typeface="Consolas"/>
              </a:rPr>
              <a:t>tp = π / ωd,  ts ≈ 4/(ζωn)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2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十、阻尼比 ζ 对二阶响应的影响（核心）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pic>
        <p:nvPicPr>
          <p:cNvPr id="6" name="Picture 5" descr="so_zeta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586385"/>
            <a:ext cx="7040880" cy="4508189"/>
          </a:xfrm>
          <a:prstGeom prst="rect">
            <a:avLst/>
          </a:prstGeom>
          <a:ln w="9525">
            <a:solidFill>
              <a:srgbClr val="CCCCCC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635240" y="1417320"/>
            <a:ext cx="420624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固定 ωn = 5，改变 ζ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ζ = 0：等幅振荡，不收敛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ζ ↑（欠阻尼）：超调和振荡减小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ζ = 0.707：超调小、响应较快（工程常用最佳阻尼）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ζ = 1：临界阻尼，无超调最快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ζ &gt; 1：过阻尼，无振荡但变慢</a:t>
            </a:r>
          </a:p>
          <a:p>
            <a:pPr algn="l">
              <a:spcBef>
                <a:spcPts val="1200"/>
              </a:spcBef>
              <a:spcAft>
                <a:spcPts val="800"/>
              </a:spcAft>
            </a:pPr>
            <a:r>
              <a:rPr sz="1800" b="1" i="0">
                <a:solidFill>
                  <a:srgbClr val="8E44AD"/>
                </a:solidFill>
                <a:latin typeface="微软雅黑"/>
                <a:ea typeface="微软雅黑"/>
                <a:cs typeface="微软雅黑"/>
              </a:rPr>
              <a:t>工程启示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ζ 是快速性与平稳性之间的权衡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我设计的 ζ=0.3 偏小，超调较大，便于观察振荡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4A23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960120"/>
          </a:xfrm>
          <a:prstGeom prst="rect">
            <a:avLst/>
          </a:prstGeom>
          <a:solidFill>
            <a:srgbClr val="8E44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0515600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600" b="1" i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419088"/>
            <a:ext cx="8229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707070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10972800" cy="4937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0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一阶系统  G(s) = K/(τs+1)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由直流增益 K 与时间常数 τ 两个参数完全确定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响应单调无超调；K 决定稳态值，τ 决定快慢（ts≈4τ）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本设计 G(s)=4/(s+2)：K=2，τ=0.5 s</a:t>
            </a:r>
          </a:p>
          <a:p>
            <a:pPr algn="l">
              <a:spcBef>
                <a:spcPts val="1200"/>
              </a:spcBef>
              <a:spcAft>
                <a:spcPts val="600"/>
              </a:spcAft>
            </a:pPr>
            <a:r>
              <a:rPr sz="2000" b="1" i="0">
                <a:solidFill>
                  <a:srgbClr val="C0392B"/>
                </a:solidFill>
                <a:latin typeface="微软雅黑"/>
                <a:ea typeface="微软雅黑"/>
                <a:cs typeface="微软雅黑"/>
              </a:rPr>
              <a:t>二阶系统  G(s) = ωn²/(s²+2ζωn s+ωn²)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由自然频率 ωn 与阻尼比 ζ 两个参数决定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ωn 决定快慢与振荡频率；ζ 决定超调与振荡程度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7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•  本设计 G(s)=25/(s²+3s+25)：ωn=5，ζ=0.3，超调 37.2%</a:t>
            </a:r>
          </a:p>
          <a:p>
            <a:pPr algn="l">
              <a:lnSpc>
                <a:spcPct val="125000"/>
              </a:lnSpc>
              <a:spcBef>
                <a:spcPts val="1400"/>
              </a:spcBef>
              <a:spcAft>
                <a:spcPts val="600"/>
              </a:spcAft>
            </a:pPr>
            <a:r>
              <a:rPr sz="1600" b="0" i="0">
                <a:solidFill>
                  <a:srgbClr val="2E2E2E"/>
                </a:solidFill>
                <a:latin typeface="微软雅黑"/>
                <a:ea typeface="微软雅黑"/>
                <a:cs typeface="微软雅黑"/>
              </a:rPr>
              <a:t>核心收获：通过修改参数并观察冲激 / 阶跃 / 初始状态三种响应，直观理解了系统参数与时域性能指标之间的对应关系。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
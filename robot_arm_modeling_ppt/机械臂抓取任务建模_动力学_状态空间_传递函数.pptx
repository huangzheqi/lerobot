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7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3A7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3600" b="1" i="0">
                <a:solidFill>
                  <a:srgbClr val="1F2A44"/>
                </a:solidFill>
                <a:latin typeface="Calibri"/>
                <a:ea typeface="微软雅黑"/>
              </a:rPr>
              <a:t>机械臂抓取任务的动态系统建模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  <a:ea typeface="微软雅黑"/>
              </a:rPr>
              <a:t>动力学方程  →  状态空间模型  →  传递函数    |    MATLAB 实现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520440"/>
            <a:ext cx="3017520" cy="1188720"/>
          </a:xfrm>
          <a:prstGeom prst="roundRect">
            <a:avLst>
              <a:gd name="adj" fmla="val 14000"/>
            </a:avLst>
          </a:prstGeom>
          <a:solidFill>
            <a:srgbClr val="EAF1F6"/>
          </a:solidFill>
          <a:ln w="15240">
            <a:solidFill>
              <a:srgbClr val="3A7C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37033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E5E8C"/>
                </a:solidFill>
                <a:latin typeface="Calibri"/>
                <a:ea typeface="微软雅黑"/>
              </a:rPr>
              <a:t>① 动力学建模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39" y="417880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  <a:ea typeface="微软雅黑"/>
              </a:rPr>
              <a:t>拉格朗日方程（含抓取负载）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90288" y="3520440"/>
            <a:ext cx="3017520" cy="1188720"/>
          </a:xfrm>
          <a:prstGeom prst="roundRect">
            <a:avLst>
              <a:gd name="adj" fmla="val 14000"/>
            </a:avLst>
          </a:prstGeom>
          <a:solidFill>
            <a:srgbClr val="EAF1F6"/>
          </a:solidFill>
          <a:ln w="15240">
            <a:solidFill>
              <a:srgbClr val="3A7C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37033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E5E8C"/>
                </a:solidFill>
                <a:latin typeface="Calibri"/>
                <a:ea typeface="微软雅黑"/>
              </a:rPr>
              <a:t>② 状态空间变换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417880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  <a:ea typeface="微软雅黑"/>
              </a:rPr>
              <a:t>平衡点线性化 → (A, B, C, 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11896" y="3520440"/>
            <a:ext cx="3017520" cy="1188720"/>
          </a:xfrm>
          <a:prstGeom prst="roundRect">
            <a:avLst>
              <a:gd name="adj" fmla="val 14000"/>
            </a:avLst>
          </a:prstGeom>
          <a:solidFill>
            <a:srgbClr val="EAF1F6"/>
          </a:solidFill>
          <a:ln w="15240">
            <a:solidFill>
              <a:srgbClr val="3A7C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6" y="37033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E5E8C"/>
                </a:solidFill>
                <a:latin typeface="Calibri"/>
                <a:ea typeface="微软雅黑"/>
              </a:rPr>
              <a:t>③ 传递函数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9056" y="417880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  <a:ea typeface="微软雅黑"/>
              </a:rPr>
              <a:t>G(s) = C(sI−A)⁻¹B + 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59352" y="3950208"/>
            <a:ext cx="566928" cy="329184"/>
          </a:xfrm>
          <a:prstGeom prst="rightArrow">
            <a:avLst/>
          </a:prstGeom>
          <a:solidFill>
            <a:srgbClr val="3A7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680960" y="3950208"/>
            <a:ext cx="566928" cy="329184"/>
          </a:xfrm>
          <a:prstGeom prst="rightArrow">
            <a:avLst/>
          </a:prstGeom>
          <a:solidFill>
            <a:srgbClr val="3A7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  <a:ea typeface="微软雅黑"/>
              </a:rPr>
              <a:t>二连杆平面机械臂 · 末端抓取负载 · 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7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118872" cy="384048"/>
          </a:xfrm>
          <a:prstGeom prst="rect">
            <a:avLst/>
          </a:prstGeom>
          <a:solidFill>
            <a:srgbClr val="3A7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2743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F2A44"/>
                </a:solidFill>
                <a:latin typeface="Calibri"/>
                <a:ea typeface="微软雅黑"/>
              </a:rPr>
              <a:t>一、抓取任务的动力学建模（拉格朗日方法）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183112" cy="1097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  <a:ea typeface="微软雅黑"/>
              </a:rPr>
              <a:t>机械臂抓取任务建模：动力学方程 — 状态空间 — 传递函数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6812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A7CA5"/>
                </a:solidFill>
                <a:latin typeface="Calibri"/>
                <a:ea typeface="微软雅黑"/>
              </a:rPr>
              <a:t>▪  </a:t>
            </a:r>
            <a:r>
              <a:rPr sz="1350" b="1" i="0">
                <a:solidFill>
                  <a:srgbClr val="1F2A44"/>
                </a:solidFill>
                <a:latin typeface="Calibri"/>
                <a:ea typeface="微软雅黑"/>
              </a:rPr>
              <a:t>对象：</a:t>
            </a:r>
            <a:r>
              <a:rPr sz="1350" b="0" i="0">
                <a:solidFill>
                  <a:srgbClr val="1F2A44"/>
                </a:solidFill>
                <a:latin typeface="Calibri"/>
                <a:ea typeface="微软雅黑"/>
              </a:rPr>
              <a:t>平面二连杆机械臂，关节力矩 τ1、τ2 驱动；末端抓取质量为 mp 的负载（视为与连杆 2 固连的点质量）。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A7CA5"/>
                </a:solidFill>
                <a:latin typeface="Calibri"/>
                <a:ea typeface="微软雅黑"/>
              </a:rPr>
              <a:t>▪  </a:t>
            </a:r>
            <a:r>
              <a:rPr sz="1350" b="1" i="0">
                <a:solidFill>
                  <a:srgbClr val="1F2A44"/>
                </a:solidFill>
                <a:latin typeface="Calibri"/>
                <a:ea typeface="微软雅黑"/>
              </a:rPr>
              <a:t>建模：</a:t>
            </a:r>
            <a:r>
              <a:rPr sz="1350" b="0" i="0">
                <a:solidFill>
                  <a:srgbClr val="1F2A44"/>
                </a:solidFill>
                <a:latin typeface="Calibri"/>
                <a:ea typeface="微软雅黑"/>
              </a:rPr>
              <a:t>取广义坐标 q = [q1, q2]ᵀ，写出系统动能 T 与势能 V（均含负载项），代入拉格朗日方程：</a:t>
            </a:r>
          </a:p>
        </p:txBody>
      </p:sp>
      <p:pic>
        <p:nvPicPr>
          <p:cNvPr id="9" name="Picture 8" descr="eq_lag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688" y="2212848"/>
            <a:ext cx="4452743" cy="603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2944368"/>
            <a:ext cx="6812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A7CA5"/>
                </a:solidFill>
                <a:latin typeface="Calibri"/>
                <a:ea typeface="微软雅黑"/>
              </a:rPr>
              <a:t>▪  </a:t>
            </a:r>
            <a:r>
              <a:rPr sz="1350" b="0" i="0">
                <a:solidFill>
                  <a:srgbClr val="1F2A44"/>
                </a:solidFill>
                <a:latin typeface="Calibri"/>
                <a:ea typeface="微软雅黑"/>
              </a:rPr>
              <a:t>得到抓取系统的</a:t>
            </a:r>
            <a:r>
              <a:rPr sz="1350" b="1" i="0">
                <a:solidFill>
                  <a:srgbClr val="2E5E8C"/>
                </a:solidFill>
                <a:latin typeface="Calibri"/>
                <a:ea typeface="微软雅黑"/>
              </a:rPr>
              <a:t>动力学方程</a:t>
            </a:r>
            <a:r>
              <a:rPr sz="1350" b="0" i="0">
                <a:solidFill>
                  <a:srgbClr val="1F2A44"/>
                </a:solidFill>
                <a:latin typeface="Calibri"/>
                <a:ea typeface="微软雅黑"/>
              </a:rPr>
              <a:t>（非线性二阶动态系统模型）：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83280"/>
            <a:ext cx="5989320" cy="713232"/>
          </a:xfrm>
          <a:prstGeom prst="roundRect">
            <a:avLst>
              <a:gd name="adj" fmla="val 18000"/>
            </a:avLst>
          </a:prstGeom>
          <a:solidFill>
            <a:srgbClr val="EAF1F6"/>
          </a:solidFill>
          <a:ln w="12700">
            <a:solidFill>
              <a:srgbClr val="3A7C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q_dynam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857" y="3529584"/>
            <a:ext cx="5014405" cy="4206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4261104"/>
            <a:ext cx="681228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  <a:ea typeface="微软雅黑"/>
              </a:rPr>
              <a:t>–  </a:t>
            </a:r>
            <a:r>
              <a:rPr sz="1250" b="0" i="0">
                <a:solidFill>
                  <a:srgbClr val="1F2A44"/>
                </a:solidFill>
                <a:latin typeface="Calibri"/>
                <a:ea typeface="微软雅黑"/>
              </a:rPr>
              <a:t>M(q)∈ℝ²ˣ²：惯性矩阵，对称正定，含负载 mp 的附加惯量项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  <a:ea typeface="微软雅黑"/>
              </a:rPr>
              <a:t>–  </a:t>
            </a:r>
            <a:r>
              <a:rPr sz="1250" b="0" i="0">
                <a:solidFill>
                  <a:srgbClr val="1F2A44"/>
                </a:solidFill>
                <a:latin typeface="Calibri"/>
                <a:ea typeface="微软雅黑"/>
              </a:rPr>
              <a:t>C 项：科氏力 / 离心力项；  G(q)：重力矩项；  Fv：关节粘性摩擦阻尼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  <a:ea typeface="微软雅黑"/>
              </a:rPr>
              <a:t>–  </a:t>
            </a:r>
            <a:r>
              <a:rPr sz="1250" b="0" i="0">
                <a:solidFill>
                  <a:srgbClr val="1F2A44"/>
                </a:solidFill>
                <a:latin typeface="Calibri"/>
                <a:ea typeface="微软雅黑"/>
              </a:rPr>
              <a:t>τ：关节驱动力矩（控制输入）；  q：关节角（被控量）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A7CA5"/>
                </a:solidFill>
                <a:latin typeface="Calibri"/>
                <a:ea typeface="微软雅黑"/>
              </a:rPr>
              <a:t>▪  </a:t>
            </a:r>
            <a:r>
              <a:rPr sz="1350" b="1" i="0">
                <a:solidFill>
                  <a:srgbClr val="1F2A44"/>
                </a:solidFill>
                <a:latin typeface="Calibri"/>
                <a:ea typeface="微软雅黑"/>
              </a:rPr>
              <a:t>抓取的影响：</a:t>
            </a:r>
            <a:r>
              <a:rPr sz="1350" b="0" i="0">
                <a:solidFill>
                  <a:srgbClr val="1F2A44"/>
                </a:solidFill>
                <a:latin typeface="Calibri"/>
                <a:ea typeface="微软雅黑"/>
              </a:rPr>
              <a:t>负载使 M(q) 与 G(q) 中出现含 mp 的项（等效惯量与重力矩增大），模型随抓取状态改变 —— 这正是需要建模分析的原因。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97880"/>
            <a:ext cx="6812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微软雅黑"/>
              </a:rPr>
              <a:t>本例参数：m1=2.0, m2=1.0, mp=0.5 kg；l1=0.5, l2=0.4 m；lc1=0.25, lc2=0.2 m；I1=0.05, I2=0.02 kg·m²；Fv=diag(0.5, 0.3) N·m·s/rad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0" y="1097280"/>
            <a:ext cx="4251960" cy="5285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rm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4259" y="1261872"/>
            <a:ext cx="5059601" cy="4526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89520" y="5870448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7280"/>
                </a:solidFill>
                <a:latin typeface="Calibri"/>
                <a:ea typeface="微软雅黑"/>
              </a:rPr>
              <a:t>图：二连杆机械臂抓取负载示意（基座悬挂式）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7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118872" cy="384048"/>
          </a:xfrm>
          <a:prstGeom prst="rect">
            <a:avLst/>
          </a:prstGeom>
          <a:solidFill>
            <a:srgbClr val="3A7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2743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F2A44"/>
                </a:solidFill>
                <a:latin typeface="Calibri"/>
                <a:ea typeface="微软雅黑"/>
              </a:rPr>
              <a:t>二、平衡点线性化与状态空间模型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183112" cy="1097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  <a:ea typeface="微软雅黑"/>
              </a:rPr>
              <a:t>机械臂抓取任务建模：动力学方程 — 状态空间 — 传递函数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微软雅黑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6903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A7CA5"/>
                </a:solidFill>
                <a:latin typeface="Calibri"/>
                <a:ea typeface="微软雅黑"/>
              </a:rPr>
              <a:t>▪  </a:t>
            </a:r>
            <a:r>
              <a:rPr sz="1350" b="1" i="0">
                <a:solidFill>
                  <a:srgbClr val="1F2A44"/>
                </a:solidFill>
                <a:latin typeface="Calibri"/>
                <a:ea typeface="微软雅黑"/>
              </a:rPr>
              <a:t>选取平衡点（工作点）：</a:t>
            </a:r>
            <a:r>
              <a:rPr sz="1350" b="0" i="0">
                <a:solidFill>
                  <a:srgbClr val="1F2A44"/>
                </a:solidFill>
                <a:latin typeface="Calibri"/>
                <a:ea typeface="微软雅黑"/>
              </a:rPr>
              <a:t>悬垂抓取位形 q0 = [−90°, 0°]ᵀ、速度为零；该位形下重力矩 G(q0) = 0，故平衡输入 τ0 = 0。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A7CA5"/>
                </a:solidFill>
                <a:latin typeface="Calibri"/>
                <a:ea typeface="微软雅黑"/>
              </a:rPr>
              <a:t>▪  </a:t>
            </a:r>
            <a:r>
              <a:rPr sz="1350" b="1" i="0">
                <a:solidFill>
                  <a:srgbClr val="1F2A44"/>
                </a:solidFill>
                <a:latin typeface="Calibri"/>
                <a:ea typeface="微软雅黑"/>
              </a:rPr>
              <a:t>小偏差线性化：</a:t>
            </a:r>
            <a:r>
              <a:rPr sz="1350" b="0" i="0">
                <a:solidFill>
                  <a:srgbClr val="1F2A44"/>
                </a:solidFill>
                <a:latin typeface="Calibri"/>
                <a:ea typeface="微软雅黑"/>
              </a:rPr>
              <a:t>令 δq = q − q0，速度乘积项（C 项）为二阶小量、舍去，得线性化方程：</a:t>
            </a:r>
          </a:p>
        </p:txBody>
      </p:sp>
      <p:pic>
        <p:nvPicPr>
          <p:cNvPr id="9" name="Picture 8" descr="eq_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49424"/>
            <a:ext cx="6766559" cy="4855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2944368"/>
            <a:ext cx="6903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A7CA5"/>
                </a:solidFill>
                <a:latin typeface="Calibri"/>
                <a:ea typeface="微软雅黑"/>
              </a:rPr>
              <a:t>▪  </a:t>
            </a:r>
            <a:r>
              <a:rPr sz="1350" b="0" i="0">
                <a:solidFill>
                  <a:srgbClr val="1F2A44"/>
                </a:solidFill>
                <a:latin typeface="Calibri"/>
                <a:ea typeface="微软雅黑"/>
              </a:rPr>
              <a:t>选状态向量 x（角度 + 角速度）、输入 u、输出 y：</a:t>
            </a:r>
          </a:p>
        </p:txBody>
      </p:sp>
      <p:pic>
        <p:nvPicPr>
          <p:cNvPr id="11" name="Picture 10" descr="eq_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473" y="3346704"/>
            <a:ext cx="4822613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3913632"/>
            <a:ext cx="6903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A7CA5"/>
                </a:solidFill>
                <a:latin typeface="Calibri"/>
                <a:ea typeface="微软雅黑"/>
              </a:rPr>
              <a:t>▪  </a:t>
            </a:r>
            <a:r>
              <a:rPr sz="1350" b="0" i="0">
                <a:solidFill>
                  <a:srgbClr val="1F2A44"/>
                </a:solidFill>
                <a:latin typeface="Calibri"/>
                <a:ea typeface="微软雅黑"/>
              </a:rPr>
              <a:t>改写为状态空间标准形，得到</a:t>
            </a:r>
            <a:r>
              <a:rPr sz="1350" b="1" i="0">
                <a:solidFill>
                  <a:srgbClr val="2E5E8C"/>
                </a:solidFill>
                <a:latin typeface="Calibri"/>
                <a:ea typeface="微软雅黑"/>
              </a:rPr>
              <a:t>状态空间矩阵 (A, B, C, D)</a:t>
            </a:r>
            <a:r>
              <a:rPr sz="1350" b="0" i="0">
                <a:solidFill>
                  <a:srgbClr val="1F2A44"/>
                </a:solidFill>
                <a:latin typeface="Calibri"/>
                <a:ea typeface="微软雅黑"/>
              </a:rPr>
              <a:t>：</a:t>
            </a:r>
          </a:p>
        </p:txBody>
      </p:sp>
      <p:pic>
        <p:nvPicPr>
          <p:cNvPr id="13" name="Picture 12" descr="eq_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009" y="4334256"/>
            <a:ext cx="4627541" cy="38404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94360" y="4901184"/>
            <a:ext cx="6720840" cy="1207008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 w="12700">
            <a:solidFill>
              <a:srgbClr val="3A7C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q_block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807" y="5047488"/>
            <a:ext cx="5559944" cy="914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589520" y="1115568"/>
            <a:ext cx="4197096" cy="4992624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8" y="1298448"/>
            <a:ext cx="3977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5E8C"/>
                </a:solidFill>
                <a:latin typeface="Calibri"/>
                <a:ea typeface="微软雅黑"/>
              </a:rPr>
              <a:t>代入数值（含 0.5 kg 负载）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1700784"/>
            <a:ext cx="3977639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F2A44"/>
                </a:solidFill>
                <a:latin typeface="Consolas"/>
                <a:ea typeface="微软雅黑"/>
              </a:rPr>
              <a:t>M0 = [1.090  0.340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F2A44"/>
                </a:solidFill>
                <a:latin typeface="Consolas"/>
                <a:ea typeface="微软雅黑"/>
              </a:rPr>
              <a:t>      0.340  0.140]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F2A44"/>
                </a:solidFill>
                <a:latin typeface="Consolas"/>
                <a:ea typeface="微软雅黑"/>
              </a:rPr>
              <a:t>Kg = [16.187  3.924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F2A44"/>
                </a:solidFill>
                <a:latin typeface="Consolas"/>
                <a:ea typeface="微软雅黑"/>
              </a:rPr>
              <a:t>       3.924  3.924]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F2A44"/>
                </a:solidFill>
                <a:latin typeface="Consolas"/>
                <a:ea typeface="微软雅黑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2E5E8C"/>
                </a:solidFill>
                <a:latin typeface="Consolas"/>
                <a:ea typeface="微软雅黑"/>
              </a:rPr>
              <a:t>A 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F2A44"/>
                </a:solidFill>
                <a:latin typeface="Consolas"/>
                <a:ea typeface="微软雅黑"/>
              </a:rPr>
              <a:t>     0      0      1.000   0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F2A44"/>
                </a:solidFill>
                <a:latin typeface="Consolas"/>
                <a:ea typeface="微软雅黑"/>
              </a:rPr>
              <a:t>     0      0      0       1.000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F2A44"/>
                </a:solidFill>
                <a:latin typeface="Consolas"/>
                <a:ea typeface="微软雅黑"/>
              </a:rPr>
              <a:t>  -25.188  21.211 -1.892   2.757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F2A44"/>
                </a:solidFill>
                <a:latin typeface="Consolas"/>
                <a:ea typeface="微软雅黑"/>
              </a:rPr>
              <a:t>   33.142 -79.541  4.595  -8.838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F2A44"/>
                </a:solidFill>
                <a:latin typeface="Consolas"/>
                <a:ea typeface="微软雅黑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1" i="0">
                <a:solidFill>
                  <a:srgbClr val="2E5E8C"/>
                </a:solidFill>
                <a:latin typeface="Consolas"/>
                <a:ea typeface="微软雅黑"/>
              </a:rPr>
              <a:t>B 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F2A44"/>
                </a:solidFill>
                <a:latin typeface="Consolas"/>
                <a:ea typeface="微软雅黑"/>
              </a:rPr>
              <a:t>    0       0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F2A44"/>
                </a:solidFill>
                <a:latin typeface="Consolas"/>
                <a:ea typeface="微软雅黑"/>
              </a:rPr>
              <a:t>    0       0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F2A44"/>
                </a:solidFill>
                <a:latin typeface="Consolas"/>
                <a:ea typeface="微软雅黑"/>
              </a:rPr>
              <a:t>    3.784  -9.189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100" b="0" i="0">
                <a:solidFill>
                  <a:srgbClr val="1F2A44"/>
                </a:solidFill>
                <a:latin typeface="Consolas"/>
                <a:ea typeface="微软雅黑"/>
              </a:rPr>
              <a:t>   -9.189  29.459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5632704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7280"/>
                </a:solidFill>
                <a:latin typeface="Calibri"/>
                <a:ea typeface="微软雅黑"/>
              </a:rPr>
              <a:t>C = [I₂  0₂]，D = 0；A 的特征值即系统极点（下页）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7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118872" cy="384048"/>
          </a:xfrm>
          <a:prstGeom prst="rect">
            <a:avLst/>
          </a:prstGeom>
          <a:solidFill>
            <a:srgbClr val="3A7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2743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F2A44"/>
                </a:solidFill>
                <a:latin typeface="Calibri"/>
                <a:ea typeface="微软雅黑"/>
              </a:rPr>
              <a:t>三、状态空间 → 传递函数：MATLAB 实现与结果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32688"/>
            <a:ext cx="11183112" cy="10972"/>
          </a:xfrm>
          <a:prstGeom prst="rect">
            <a:avLst/>
          </a:prstGeom>
          <a:solidFill>
            <a:srgbClr val="D5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  <a:ea typeface="微软雅黑"/>
              </a:rPr>
              <a:t>机械臂抓取任务建模：动力学方程 — 状态空间 — 传递函数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微软雅黑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" y="1078992"/>
            <a:ext cx="5870448" cy="523036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243584"/>
            <a:ext cx="5541264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1" i="0">
                <a:solidFill>
                  <a:srgbClr val="1A7A4A"/>
                </a:solidFill>
                <a:latin typeface="Consolas"/>
                <a:ea typeface="微软雅黑"/>
              </a:rPr>
              <a:t>%% 机械臂抓取: 动力学 -&gt; 状态空间 -&gt; 传递函数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0" i="0">
                <a:solidFill>
                  <a:srgbClr val="1F2A44"/>
                </a:solidFill>
                <a:latin typeface="Consolas"/>
                <a:ea typeface="微软雅黑"/>
              </a:rPr>
              <a:t>M  = [1.090 0.340; 0.340 0.140];    </a:t>
            </a:r>
            <a:r>
              <a:rPr sz="1050" b="0" i="0">
                <a:solidFill>
                  <a:srgbClr val="1A7A4A"/>
                </a:solidFill>
                <a:latin typeface="Consolas"/>
                <a:ea typeface="微软雅黑"/>
              </a:rPr>
              <a:t>% 惯性矩阵 M(q0), 含负载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0" i="0">
                <a:solidFill>
                  <a:srgbClr val="1F2A44"/>
                </a:solidFill>
                <a:latin typeface="Consolas"/>
                <a:ea typeface="微软雅黑"/>
              </a:rPr>
              <a:t>Kg = [16.187 3.924; 3.924 3.924];   </a:t>
            </a:r>
            <a:r>
              <a:rPr sz="1050" b="0" i="0">
                <a:solidFill>
                  <a:srgbClr val="1A7A4A"/>
                </a:solidFill>
                <a:latin typeface="Consolas"/>
                <a:ea typeface="微软雅黑"/>
              </a:rPr>
              <a:t>% 重力刚度 dG/dq|q0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0" i="0">
                <a:solidFill>
                  <a:srgbClr val="1F2A44"/>
                </a:solidFill>
                <a:latin typeface="Consolas"/>
                <a:ea typeface="微软雅黑"/>
              </a:rPr>
              <a:t>Fv = diag([0.5 0.3]);               </a:t>
            </a:r>
            <a:r>
              <a:rPr sz="1050" b="0" i="0">
                <a:solidFill>
                  <a:srgbClr val="1A7A4A"/>
                </a:solidFill>
                <a:latin typeface="Consolas"/>
                <a:ea typeface="微软雅黑"/>
              </a:rPr>
              <a:t>% 关节粘性阻尼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0" i="0">
                <a:solidFill>
                  <a:srgbClr val="1F2A44"/>
                </a:solidFill>
                <a:latin typeface="Consolas"/>
                <a:ea typeface="微软雅黑"/>
              </a:rPr>
              <a:t>n  = 2;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0" i="0">
                <a:solidFill>
                  <a:srgbClr val="1F2A44"/>
                </a:solidFill>
                <a:latin typeface="Consolas"/>
                <a:ea typeface="微软雅黑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1" i="0">
                <a:solidFill>
                  <a:srgbClr val="1A7A4A"/>
                </a:solidFill>
                <a:latin typeface="Consolas"/>
                <a:ea typeface="微软雅黑"/>
              </a:rPr>
              <a:t>%% 状态空间模型: x = [dq; dq'], u = dtau, y = dq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0" i="0">
                <a:solidFill>
                  <a:srgbClr val="1F2A44"/>
                </a:solidFill>
                <a:latin typeface="Consolas"/>
                <a:ea typeface="微软雅黑"/>
              </a:rPr>
              <a:t>A = [zeros(n), eye(n); -M\Kg, -M\Fv];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0" i="0">
                <a:solidFill>
                  <a:srgbClr val="1F2A44"/>
                </a:solidFill>
                <a:latin typeface="Consolas"/>
                <a:ea typeface="微软雅黑"/>
              </a:rPr>
              <a:t>B = [zeros(n); inv(M)];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0" i="0">
                <a:solidFill>
                  <a:srgbClr val="1F2A44"/>
                </a:solidFill>
                <a:latin typeface="Consolas"/>
                <a:ea typeface="微软雅黑"/>
              </a:rPr>
              <a:t>C = [eye(n), zeros(n)];   D = zeros(n);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0" i="0">
                <a:solidFill>
                  <a:srgbClr val="1F2A44"/>
                </a:solidFill>
                <a:latin typeface="Consolas"/>
                <a:ea typeface="微软雅黑"/>
              </a:rPr>
              <a:t>sys = ss(A, B, C, D);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0" i="0">
                <a:solidFill>
                  <a:srgbClr val="1F2A44"/>
                </a:solidFill>
                <a:latin typeface="Consolas"/>
                <a:ea typeface="微软雅黑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1" i="0">
                <a:solidFill>
                  <a:srgbClr val="1A7A4A"/>
                </a:solidFill>
                <a:latin typeface="Consolas"/>
                <a:ea typeface="微软雅黑"/>
              </a:rPr>
              <a:t>%% 传递函数矩阵 G(s) = C(sI-A)^(-1)B + 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0" i="0">
                <a:solidFill>
                  <a:srgbClr val="1F2A44"/>
                </a:solidFill>
                <a:latin typeface="Consolas"/>
                <a:ea typeface="微软雅黑"/>
              </a:rPr>
              <a:t>G   = tf(sys);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0" i="0">
                <a:solidFill>
                  <a:srgbClr val="1F2A44"/>
                </a:solidFill>
                <a:latin typeface="Consolas"/>
                <a:ea typeface="微软雅黑"/>
              </a:rPr>
              <a:t>G11 = minreal(G(1,1))               </a:t>
            </a:r>
            <a:r>
              <a:rPr sz="1050" b="0" i="0">
                <a:solidFill>
                  <a:srgbClr val="1A7A4A"/>
                </a:solidFill>
                <a:latin typeface="Consolas"/>
                <a:ea typeface="微软雅黑"/>
              </a:rPr>
              <a:t>% 通道: dtau1 -&gt; dq1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0" i="0">
                <a:solidFill>
                  <a:srgbClr val="1F2A44"/>
                </a:solidFill>
                <a:latin typeface="Consolas"/>
                <a:ea typeface="微软雅黑"/>
              </a:rPr>
              <a:t>[num, den] = ss2tf(A, B, C, D, 1);  </a:t>
            </a:r>
            <a:r>
              <a:rPr sz="1050" b="0" i="0">
                <a:solidFill>
                  <a:srgbClr val="1A7A4A"/>
                </a:solidFill>
                <a:latin typeface="Consolas"/>
                <a:ea typeface="微软雅黑"/>
              </a:rPr>
              <a:t>% 等价做法(第1输入)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0" i="0">
                <a:solidFill>
                  <a:srgbClr val="1F2A44"/>
                </a:solidFill>
                <a:latin typeface="Consolas"/>
                <a:ea typeface="微软雅黑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1" i="0">
                <a:solidFill>
                  <a:srgbClr val="1A7A4A"/>
                </a:solidFill>
                <a:latin typeface="Consolas"/>
                <a:ea typeface="微软雅黑"/>
              </a:rPr>
              <a:t>%% 验证与分析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0" i="0">
                <a:solidFill>
                  <a:srgbClr val="1F2A44"/>
                </a:solidFill>
                <a:latin typeface="Consolas"/>
                <a:ea typeface="微软雅黑"/>
              </a:rPr>
              <a:t>p = pole(sys)                       </a:t>
            </a:r>
            <a:r>
              <a:rPr sz="1050" b="0" i="0">
                <a:solidFill>
                  <a:srgbClr val="1A7A4A"/>
                </a:solidFill>
                <a:latin typeface="Consolas"/>
                <a:ea typeface="微软雅黑"/>
              </a:rPr>
              <a:t>% 极点 -&gt; 稳定性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0" i="0">
                <a:solidFill>
                  <a:srgbClr val="1F2A44"/>
                </a:solidFill>
                <a:latin typeface="Consolas"/>
                <a:ea typeface="微软雅黑"/>
              </a:rPr>
              <a:t>dcgain(G11)                         </a:t>
            </a:r>
            <a:r>
              <a:rPr sz="1050" b="0" i="0">
                <a:solidFill>
                  <a:srgbClr val="1A7A4A"/>
                </a:solidFill>
                <a:latin typeface="Consolas"/>
                <a:ea typeface="微软雅黑"/>
              </a:rPr>
              <a:t>% 直流增益 = inv(Kg)(1,1)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0" i="0">
                <a:solidFill>
                  <a:srgbClr val="1F2A44"/>
                </a:solidFill>
                <a:latin typeface="Consolas"/>
                <a:ea typeface="微软雅黑"/>
              </a:rPr>
              <a:t>step(G11), grid on                  </a:t>
            </a:r>
            <a:r>
              <a:rPr sz="1050" b="0" i="0">
                <a:solidFill>
                  <a:srgbClr val="1A7A4A"/>
                </a:solidFill>
                <a:latin typeface="Consolas"/>
                <a:ea typeface="微软雅黑"/>
              </a:rPr>
              <a:t>% 阶跃响应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20"/>
              </a:spcAft>
            </a:pPr>
            <a:r>
              <a:rPr sz="1050" b="0" i="0">
                <a:solidFill>
                  <a:srgbClr val="1F2A44"/>
                </a:solidFill>
                <a:latin typeface="Consolas"/>
                <a:ea typeface="微软雅黑"/>
              </a:rPr>
              <a:t>bode(G11), grid on                  </a:t>
            </a:r>
            <a:r>
              <a:rPr sz="1050" b="0" i="0">
                <a:solidFill>
                  <a:srgbClr val="1A7A4A"/>
                </a:solidFill>
                <a:latin typeface="Consolas"/>
                <a:ea typeface="微软雅黑"/>
              </a:rPr>
              <a:t>% 频率特性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097280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A7CA5"/>
                </a:solidFill>
                <a:latin typeface="Calibri"/>
                <a:ea typeface="微软雅黑"/>
              </a:rPr>
              <a:t>▪  </a:t>
            </a:r>
            <a:r>
              <a:rPr sz="1350" b="0" i="0">
                <a:solidFill>
                  <a:srgbClr val="1F2A44"/>
                </a:solidFill>
                <a:latin typeface="Calibri"/>
                <a:ea typeface="微软雅黑"/>
              </a:rPr>
              <a:t>由状态空间矩阵求</a:t>
            </a:r>
            <a:r>
              <a:rPr sz="1350" b="1" i="0">
                <a:solidFill>
                  <a:srgbClr val="2E5E8C"/>
                </a:solidFill>
                <a:latin typeface="Calibri"/>
                <a:ea typeface="微软雅黑"/>
              </a:rPr>
              <a:t>传递函数</a:t>
            </a:r>
            <a:r>
              <a:rPr sz="1350" b="0" i="0">
                <a:solidFill>
                  <a:srgbClr val="1F2A44"/>
                </a:solidFill>
                <a:latin typeface="Calibri"/>
                <a:ea typeface="微软雅黑"/>
              </a:rPr>
              <a:t>（2×2 矩阵，MIMO）：</a:t>
            </a:r>
          </a:p>
        </p:txBody>
      </p:sp>
      <p:pic>
        <p:nvPicPr>
          <p:cNvPr id="11" name="Picture 10" descr="eq_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1554480"/>
            <a:ext cx="5029200" cy="3304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60" y="2212848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A7CA5"/>
                </a:solidFill>
                <a:latin typeface="Calibri"/>
                <a:ea typeface="微软雅黑"/>
              </a:rPr>
              <a:t>▪  </a:t>
            </a:r>
            <a:r>
              <a:rPr sz="1350" b="0" i="0">
                <a:solidFill>
                  <a:srgbClr val="1F2A44"/>
                </a:solidFill>
                <a:latin typeface="Calibri"/>
                <a:ea typeface="微软雅黑"/>
              </a:rPr>
              <a:t>MATLAB 运行结果（取 δτ1 → δq1 通道）：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615184"/>
            <a:ext cx="5074920" cy="932688"/>
          </a:xfrm>
          <a:prstGeom prst="roundRect">
            <a:avLst>
              <a:gd name="adj" fmla="val 12000"/>
            </a:avLst>
          </a:prstGeom>
          <a:solidFill>
            <a:srgbClr val="EAF1F6"/>
          </a:solidFill>
          <a:ln w="12700">
            <a:solidFill>
              <a:srgbClr val="3A7C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q_g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20" y="2798064"/>
            <a:ext cx="4663440" cy="47028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60" y="3749039"/>
            <a:ext cx="5166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3A7CA5"/>
                </a:solidFill>
                <a:latin typeface="Calibri"/>
                <a:ea typeface="微软雅黑"/>
              </a:rPr>
              <a:t>▪  </a:t>
            </a:r>
            <a:r>
              <a:rPr sz="1300" b="1" i="0">
                <a:solidFill>
                  <a:srgbClr val="1F2A44"/>
                </a:solidFill>
                <a:latin typeface="Calibri"/>
                <a:ea typeface="微软雅黑"/>
              </a:rPr>
              <a:t>极点 pole(sys)（rad/s）：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2E5E8C"/>
                </a:solidFill>
                <a:latin typeface="Consolas"/>
                <a:ea typeface="微软雅黑"/>
              </a:rPr>
              <a:t>    p = -0.196 ± 3.789j ,  -5.169 ± 7.976j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  <a:ea typeface="微软雅黑"/>
              </a:rPr>
              <a:t>–  </a:t>
            </a:r>
            <a:r>
              <a:rPr sz="1250" b="0" i="0">
                <a:solidFill>
                  <a:srgbClr val="1F2A44"/>
                </a:solidFill>
                <a:latin typeface="Calibri"/>
                <a:ea typeface="微软雅黑"/>
              </a:rPr>
              <a:t>四个极点均位于左半平面 ⇒ 悬垂抓取平衡位形渐近稳定；主导极点 ωn ≈ 3.79 rad/s、ζ ≈ 0.05，呈欠阻尼摆动（阻尼弱）。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6B7280"/>
                </a:solidFill>
                <a:latin typeface="Calibri"/>
                <a:ea typeface="微软雅黑"/>
              </a:rPr>
              <a:t>–  </a:t>
            </a:r>
            <a:r>
              <a:rPr sz="1250" b="0" i="0">
                <a:solidFill>
                  <a:srgbClr val="1F2A44"/>
                </a:solidFill>
                <a:latin typeface="Calibri"/>
                <a:ea typeface="微软雅黑"/>
              </a:rPr>
              <a:t>直流增益 dcgain(G11) = 0.0815 rad/(N·m)，与 Kg 逆矩阵的 (1,1) 元素一致，模型自洽。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A7CA5"/>
                </a:solidFill>
                <a:latin typeface="Calibri"/>
                <a:ea typeface="微软雅黑"/>
              </a:rPr>
              <a:t>▪  </a:t>
            </a:r>
            <a:r>
              <a:rPr sz="1300" b="1" i="0">
                <a:solidFill>
                  <a:srgbClr val="1F2A44"/>
                </a:solidFill>
                <a:latin typeface="Calibri"/>
                <a:ea typeface="微软雅黑"/>
              </a:rPr>
              <a:t>用途：</a:t>
            </a:r>
            <a:r>
              <a:rPr sz="1300" b="0" i="0">
                <a:solidFill>
                  <a:srgbClr val="1F2A44"/>
                </a:solidFill>
                <a:latin typeface="Calibri"/>
                <a:ea typeface="微软雅黑"/>
              </a:rPr>
              <a:t>此 (A,B,C,D) 与 G(s) 即为控制设计的出发点 —— 可进一步设计 PID / LQR / 状态观测器，并分析负载 mp 变化对抓取动态特性的影响。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6053328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  <a:ea typeface="微软雅黑"/>
              </a:rPr>
              <a:t>完整可运行脚本：grasp_dynamics_ss_tf.m（由物理参数自动计算 M0、Kg 并绘制 step/bode）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机械臂抓取任务的动态系统建模：动力学方程-状态空间-传递函数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
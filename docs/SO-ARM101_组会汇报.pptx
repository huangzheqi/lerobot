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2F4B7C"/>
                </a:solidFill>
                <a:latin typeface="Noto Sans CJK SC"/>
                <a:ea typeface="Noto Sans CJK SC"/>
                <a:cs typeface="Noto Sans CJK SC"/>
              </a:rPr>
              <a:t>SO-ARM101 抓取–放置:强化学习 + 视觉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rPr>
              <a:t>Isaac Lab · PPO(RSL-RL)· 面向真机 SO101 的视觉抓取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628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3B6EA5"/>
                </a:solidFill>
                <a:latin typeface="Noto Sans CJK SC"/>
                <a:ea typeface="Noto Sans CJK SC"/>
                <a:cs typeface="Noto Sans CJK SC"/>
              </a:rPr>
              <a:t>组会汇报   ·   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4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一、项目背景与目标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0"/>
            <a:ext cx="1005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C8D4E6"/>
                </a:solidFill>
                <a:latin typeface="Noto Sans CJK SC"/>
                <a:ea typeface="Noto Sans CJK SC"/>
                <a:cs typeface="Noto Sans CJK SC"/>
              </a:rPr>
              <a:t>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• 任务:让 SO-ARM101(5 自由度机械臂)把桌面上的方块抓起,搬运并放到指定目标区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• 最终交付:迁移到真实 SO101 机械臂,用摄像头视觉定位方块(不是仿真真值)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• 技术栈:Isaac Lab(物理引擎 PhysX 5,GPU)+ RSL-RL(PPO)+ Gymnasium + Python/uv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3B6EA5"/>
                </a:solidFill>
                <a:latin typeface="Noto Sans CJK SC"/>
                <a:ea typeface="Noto Sans CJK SC"/>
                <a:cs typeface="Noto Sans CJK SC"/>
              </a:rPr>
              <a:t>• ★关键认知:训练时用方块真值坐标(无相机),推理时才用视觉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rPr>
              <a:t>    – → 策略网络只认坐标、不认图像;视觉只是推理时把图像翻译成坐标的一座桥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4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二、总体架构:两条流共用同一策略网络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0"/>
            <a:ext cx="1005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C8D4E6"/>
                </a:solidFill>
                <a:latin typeface="Noto Sans CJK SC"/>
                <a:ea typeface="Noto Sans CJK SC"/>
                <a:cs typeface="Noto Sans CJK SC"/>
              </a:rPr>
              <a:t>3 / 14</a:t>
            </a:r>
          </a:p>
        </p:txBody>
      </p:sp>
      <p:pic>
        <p:nvPicPr>
          <p:cNvPr id="5" name="Picture 4" descr="fig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778" y="1097280"/>
            <a:ext cx="7106139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rPr>
              <a:t>训练流与推理流唯一的本质区别 = 方块坐标的来源;训练产出 model_26994.pt,推理加载它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4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三、仿真环境与 MDP 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0"/>
            <a:ext cx="1005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C8D4E6"/>
                </a:solidFill>
                <a:latin typeface="Noto Sans CJK SC"/>
                <a:ea typeface="Noto Sans CJK SC"/>
                <a:cs typeface="Noto Sans CJK SC"/>
              </a:rPr>
              <a:t>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20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• 观测 ≈ 28 维:关节角6 + 关节速6 + 方块xyz真值3 + 目标位姿7 + 上步动作6</a:t>
            </a:r>
          </a:p>
          <a:p>
            <a:pPr>
              <a:spcAft>
                <a:spcPts val="1300"/>
              </a:spcAft>
            </a:pPr>
            <a:r>
              <a:rPr sz="20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• 动作 = 6 维:5 个手臂关节目标角(位置控制)+ 夹爪二值开/合</a:t>
            </a:r>
          </a:p>
          <a:p>
            <a:pPr>
              <a:spcAft>
                <a:spcPts val="1300"/>
              </a:spcAft>
            </a:pPr>
            <a:r>
              <a:rPr sz="20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• 节拍:物理 100Hz,策略控制 50Hz,每回合 5 秒 = 250 步</a:t>
            </a:r>
          </a:p>
          <a:p>
            <a:pPr>
              <a:spcAft>
                <a:spcPts val="1300"/>
              </a:spcAft>
            </a:pPr>
            <a:r>
              <a:rPr sz="20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• 终止:超时(5秒)或 方块掉到桌下</a:t>
            </a:r>
          </a:p>
          <a:p>
            <a:pPr>
              <a:spcAft>
                <a:spcPts val="1300"/>
              </a:spcAft>
            </a:pPr>
            <a:r>
              <a:rPr sz="2000" b="0">
                <a:solidFill>
                  <a:srgbClr val="3B6EA5"/>
                </a:solidFill>
                <a:latin typeface="Noto Sans CJK SC"/>
                <a:ea typeface="Noto Sans CJK SC"/>
                <a:cs typeface="Noto Sans CJK SC"/>
              </a:rPr>
              <a:t>• 物理引擎:NVIDIA PhysX 5(GPU),并行跑 4096 个环境——这是高速训练的关键</a:t>
            </a:r>
          </a:p>
          <a:p>
            <a:pPr lvl="1">
              <a:spcAft>
                <a:spcPts val="1300"/>
              </a:spcAft>
            </a:pPr>
            <a:r>
              <a:rPr sz="1800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rPr>
              <a:t>    – PhysX 与 Isaac Lab 深度绑定,不能换引擎,只能调参(步长/摩擦/求解器)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4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四、奖励设计:分阶段门控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0"/>
            <a:ext cx="1005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C8D4E6"/>
                </a:solidFill>
                <a:latin typeface="Noto Sans CJK SC"/>
                <a:ea typeface="Noto Sans CJK SC"/>
                <a:cs typeface="Noto Sans CJK SC"/>
              </a:rPr>
              <a:t>5 / 14</a:t>
            </a:r>
          </a:p>
        </p:txBody>
      </p:sp>
      <p:pic>
        <p:nvPicPr>
          <p:cNvPr id="5" name="Picture 4" descr="fig6_rew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917" y="1051560"/>
            <a:ext cx="6835861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rPr>
              <a:t>四阶段(接近抓取→搬运→下降→释放)由高度+距离门控;锁存器防「不抬直接拖到目标」作弊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4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五、PPO 训练循环与超参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0"/>
            <a:ext cx="1005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C8D4E6"/>
                </a:solidFill>
                <a:latin typeface="Noto Sans CJK SC"/>
                <a:ea typeface="Noto Sans CJK SC"/>
                <a:cs typeface="Noto Sans CJK SC"/>
              </a:rPr>
              <a:t>6 / 14</a:t>
            </a:r>
          </a:p>
        </p:txBody>
      </p:sp>
      <p:pic>
        <p:nvPicPr>
          <p:cNvPr id="5" name="Picture 4" descr="fig7_p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823" y="1051560"/>
            <a:ext cx="6720049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rPr>
              <a:t>采样→算优势(GAE)→多轮 clip 更新→自适应学习率;每个超参标注在其起作用的位置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4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六、训练日志怎么看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0"/>
            <a:ext cx="1005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C8D4E6"/>
                </a:solidFill>
                <a:latin typeface="Noto Sans CJK SC"/>
                <a:ea typeface="Noto Sans CJK SC"/>
                <a:cs typeface="Noto Sans CJK SC"/>
              </a:rPr>
              <a:t>7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9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• Mean reward:每步平均总奖励(所有奖励项加权和)——整体趋势</a:t>
            </a:r>
          </a:p>
          <a:p>
            <a:pPr>
              <a:spcAft>
                <a:spcPts val="1300"/>
              </a:spcAft>
            </a:pPr>
            <a:r>
              <a:rPr sz="1900" b="0">
                <a:solidFill>
                  <a:srgbClr val="C0392B"/>
                </a:solidFill>
                <a:latin typeface="Noto Sans CJK SC"/>
                <a:ea typeface="Noto Sans CJK SC"/>
                <a:cs typeface="Noto Sans CJK SC"/>
              </a:rPr>
              <a:t>• Episode_Reward / lifting_object:抓取健康度 ★止损线盯它★(腰斩下跌=死亡螺旋)</a:t>
            </a:r>
          </a:p>
          <a:p>
            <a:pPr>
              <a:spcAft>
                <a:spcPts val="1300"/>
              </a:spcAft>
            </a:pPr>
            <a:r>
              <a:rPr sz="19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• Mean episode length = 250:满步=几乎都正常超时,没有中途掉方块崩盘</a:t>
            </a:r>
          </a:p>
          <a:p>
            <a:pPr>
              <a:spcAft>
                <a:spcPts val="1300"/>
              </a:spcAft>
            </a:pPr>
            <a:r>
              <a:rPr sz="19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• Episode_Reward / 各项:每个奖励项在一回合内的累计贡献</a:t>
            </a:r>
          </a:p>
          <a:p>
            <a:pPr>
              <a:spcAft>
                <a:spcPts val="1300"/>
              </a:spcAft>
            </a:pPr>
            <a:r>
              <a:rPr sz="19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• Curriculum / *:随训练进度变化的惩罚权重;Metrics:目标跟踪误差(非奖励)</a:t>
            </a:r>
          </a:p>
          <a:p>
            <a:pPr lvl="1">
              <a:spcAft>
                <a:spcPts val="1300"/>
              </a:spcAft>
            </a:pPr>
            <a:r>
              <a:rPr sz="1700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rPr>
              <a:t>    – 迭代号很大(2.7万)是因为从 model_26994 续训,计数接着加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4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七、推理工作流:50Hz 实时闭环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0"/>
            <a:ext cx="1005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C8D4E6"/>
                </a:solidFill>
                <a:latin typeface="Noto Sans CJK SC"/>
                <a:ea typeface="Noto Sans CJK SC"/>
                <a:cs typeface="Noto Sans CJK SC"/>
              </a:rPr>
              <a:t>8 / 14</a:t>
            </a:r>
          </a:p>
        </p:txBody>
      </p:sp>
      <p:pic>
        <p:nvPicPr>
          <p:cNvPr id="5" name="Picture 4" descr="fig3_in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644" y="1051560"/>
            <a:ext cx="5526407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rPr>
              <a:t>每步:拍图→识别方块→写入观测→policy(obs)→执行→重拍;实时闭环=掉落可重抓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4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八、视觉感知:颜色掩码(采用方案)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0"/>
            <a:ext cx="1005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C8D4E6"/>
                </a:solidFill>
                <a:latin typeface="Noto Sans CJK SC"/>
                <a:ea typeface="Noto Sans CJK SC"/>
                <a:cs typeface="Noto Sans CJK SC"/>
              </a:rPr>
              <a:t>9 / 14</a:t>
            </a:r>
          </a:p>
        </p:txBody>
      </p:sp>
      <p:pic>
        <p:nvPicPr>
          <p:cNvPr id="5" name="Picture 4" descr="fig5_color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05" y="1188720"/>
            <a:ext cx="10225284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212080"/>
            <a:ext cx="1091153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• 逐像素判红 R&gt;110 且 R&gt;G+35 且 R&gt;B+35 → 取最大连通域 → 求质心 → 针孔反投影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E7D32"/>
                </a:solidFill>
                <a:latin typeface="Noto Sans CJK SC"/>
                <a:ea typeface="Noto Sans CJK SC"/>
                <a:cs typeface="Noto Sans CJK SC"/>
              </a:rPr>
              <a:t>• 不训练、纯几何;红方块=画面唯一醒目纯色,色相对光照稳健 → 光照鲁棒性零衰减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4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九、对比方案:ResNet 监督学习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0"/>
            <a:ext cx="1005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C8D4E6"/>
                </a:solidFill>
                <a:latin typeface="Noto Sans CJK SC"/>
                <a:ea typeface="Noto Sans CJK SC"/>
                <a:cs typeface="Noto Sans CJK SC"/>
              </a:rPr>
              <a:t>10 / 14</a:t>
            </a:r>
          </a:p>
        </p:txBody>
      </p:sp>
      <p:pic>
        <p:nvPicPr>
          <p:cNvPr id="5" name="Picture 4" descr="fig4_res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476" y="1188720"/>
            <a:ext cx="5764742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212080"/>
            <a:ext cx="1091153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• 监督学习:仿真器自动生成标签(方块真值坐标,免费);数据集上 corr≈0.92(确实在定位)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C8843C"/>
                </a:solidFill>
                <a:latin typeface="Noto Sans CJK SC"/>
                <a:ea typeface="Noto Sans CJK SC"/>
                <a:cs typeface="Noto Sans CJK SC"/>
              </a:rPr>
              <a:t>• 但部署存在训练图≠播放图的域差 → 退化为猜均值(~6%) → 被颜色掩码方案取代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4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十、实验结果(评估漏斗)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0"/>
            <a:ext cx="1005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C8D4E6"/>
                </a:solidFill>
                <a:latin typeface="Noto Sans CJK SC"/>
                <a:ea typeface="Noto Sans CJK SC"/>
                <a:cs typeface="Noto Sans CJK SC"/>
              </a:rPr>
              <a:t>11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900" b="0">
                <a:solidFill>
                  <a:srgbClr val="3B6EA5"/>
                </a:solidFill>
                <a:latin typeface="Noto Sans CJK SC"/>
                <a:ea typeface="Noto Sans CJK SC"/>
                <a:cs typeface="Noto Sans CJK SC"/>
              </a:rPr>
              <a:t>• 抓取成功率:GT 模式 35.6%  vs  vision 模式 32.0%(感知几乎不丢分)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• 端到端放置(落桌且 XY&lt;8cm):约 8–11%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• 策略抓取方式 = 「推-追-夹」:先碰到方块、推动它,再追上去夹住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rPr>
              <a:t>• 评估用自写漏斗(XY距离+是否落桌),而非内置 3D success——因目标点悬空,3D恒为0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• 结论:视觉感知已不是瓶颈(vision≈GT);瓶颈在抓取率本身 + 放置精度(散布~10cm)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4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十一、鲁棒性测试(medium 档)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0"/>
            <a:ext cx="1005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C8D4E6"/>
                </a:solidFill>
                <a:latin typeface="Noto Sans CJK SC"/>
                <a:ea typeface="Noto Sans CJK SC"/>
                <a:cs typeface="Noto Sans CJK SC"/>
              </a:rPr>
              <a:t>12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900" b="0">
                <a:solidFill>
                  <a:srgbClr val="2E7D32"/>
                </a:solidFill>
                <a:latin typeface="Noto Sans CJK SC"/>
                <a:ea typeface="Noto Sans CJK SC"/>
                <a:cs typeface="Noto Sans CJK SC"/>
              </a:rPr>
              <a:t>• 光照 ✅ 免疫:29.6%(基线 32%);颜色掩码误差零恶化(红色色相稳)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C8843C"/>
                </a:solidFill>
                <a:latin typeface="Noto Sans CJK SC"/>
                <a:ea typeface="Noto Sans CJK SC"/>
                <a:cs typeface="Noto Sans CJK SC"/>
              </a:rPr>
              <a:t>• 杂物 ⚠️ 中度:21.4%;静态障碍物遮挡左/中区接近路径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C0392B"/>
                </a:solidFill>
                <a:latin typeface="Noto Sans CJK SC"/>
                <a:ea typeface="Noto Sans CJK SC"/>
                <a:cs typeface="Noto Sans CJK SC"/>
              </a:rPr>
              <a:t>• 目标点 ❌ 泛化悬崖:目标出训练框 → 搬运失效(方块被搬回训练目标的均值位置)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C0392B"/>
                </a:solidFill>
                <a:latin typeface="Noto Sans CJK SC"/>
                <a:ea typeface="Noto Sans CJK SC"/>
                <a:cs typeface="Noto Sans CJK SC"/>
              </a:rPr>
              <a:t>• 全局摩擦 ❌ 致命:2.8%(μ≈0.35);桌面变滑,「推-追」彻底追不上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rPr>
              <a:t>• 对真机的提示:真实桌面摩擦不可控,是最高风险;放置区应设在训练框内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4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十二、训练侧尝试与结论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0"/>
            <a:ext cx="1005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C8D4E6"/>
                </a:solidFill>
                <a:latin typeface="Noto Sans CJK SC"/>
                <a:ea typeface="Noto Sans CJK SC"/>
                <a:cs typeface="Noto Sans CJK SC"/>
              </a:rPr>
              <a:t>13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9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• 目标:从 v9 微调提升抓取率(治「推-追失败」和「右侧拖动」)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C0392B"/>
                </a:solidFill>
                <a:latin typeface="Noto Sans CJK SC"/>
                <a:ea typeface="Noto Sans CJK SC"/>
                <a:cs typeface="Noto Sans CJK SC"/>
              </a:rPr>
              <a:t>• v17(加推动惩罚)/ v18(加锁存)/ v19(降LR、去噪声)——三次微调均失败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• 共同现象:抓取健康度 lifting_object 从 ~0.8 一路阴跌,曲线形状一致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3B6EA5"/>
                </a:solidFill>
                <a:latin typeface="Noto Sans CJK SC"/>
                <a:ea typeface="Noto Sans CJK SC"/>
                <a:cs typeface="Noto Sans CJK SC"/>
              </a:rPr>
              <a:t>• 根因:改过奖励地形后,收敛的 v9 在任何学习率下都不可微调(critic 失配)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• 决策:冻结 v9(model_26994)+ 颜色掩码视觉(抓取 32%)作为当前成果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F4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10944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十三、总结与下一步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0"/>
            <a:ext cx="1005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C8D4E6"/>
                </a:solidFill>
                <a:latin typeface="Noto Sans CJK SC"/>
                <a:ea typeface="Noto Sans CJK SC"/>
                <a:cs typeface="Noto Sans CJK SC"/>
              </a:rPr>
              <a:t>14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500"/>
              </a:spcAft>
            </a:pPr>
            <a:r>
              <a:rPr sz="2000" b="0">
                <a:solidFill>
                  <a:srgbClr val="3B6EA5"/>
                </a:solidFill>
                <a:latin typeface="Noto Sans CJK SC"/>
                <a:ea typeface="Noto Sans CJK SC"/>
                <a:cs typeface="Noto Sans CJK SC"/>
              </a:rPr>
              <a:t>• 已打通完整链路:仿真训练 → 视觉感知 → 推理实时闭环</a:t>
            </a:r>
          </a:p>
          <a:p>
            <a:pPr>
              <a:spcAft>
                <a:spcPts val="1500"/>
              </a:spcAft>
            </a:pPr>
            <a:r>
              <a:rPr sz="2000" b="0">
                <a:solidFill>
                  <a:srgbClr val="2E7D32"/>
                </a:solidFill>
                <a:latin typeface="Noto Sans CJK SC"/>
                <a:ea typeface="Noto Sans CJK SC"/>
                <a:cs typeface="Noto Sans CJK SC"/>
              </a:rPr>
              <a:t>• 视觉感知已解决:vision 抓取 32% ≈ GT 35.6%,差距不在感知</a:t>
            </a:r>
          </a:p>
          <a:p>
            <a:pPr>
              <a:spcAft>
                <a:spcPts val="1500"/>
              </a:spcAft>
            </a:pPr>
            <a:r>
              <a:rPr sz="20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• 当前瓶颈:抓取率本身 + 放置精度(~10cm)+ 摩擦鲁棒性</a:t>
            </a:r>
          </a:p>
          <a:p>
            <a:pPr>
              <a:spcAft>
                <a:spcPts val="1500"/>
              </a:spcAft>
            </a:pPr>
            <a:r>
              <a:rPr sz="2000" b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</a:rPr>
              <a:t>• 下一步:换物体 / 换材质测试;真机迁移验证视觉管线</a:t>
            </a:r>
          </a:p>
          <a:p>
            <a:pPr>
              <a:spcAft>
                <a:spcPts val="1500"/>
              </a:spcAft>
            </a:pPr>
            <a:r>
              <a:rPr sz="2000" b="0">
                <a:solidFill>
                  <a:srgbClr val="555555"/>
                </a:solidFill>
                <a:latin typeface="Noto Sans CJK SC"/>
                <a:ea typeface="Noto Sans CJK SC"/>
                <a:cs typeface="Noto Sans CJK SC"/>
              </a:rPr>
              <a:t>• 已沉淀文档:项目流程详解.md(16章)+ 数据流框图.md(7张图)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